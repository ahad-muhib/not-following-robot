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embeddedFontLst>
    <p:embeddedFont>
      <p:font typeface="Poppins"/>
      <p:regular r:id="rId16"/>
      <p:bold r:id="rId17"/>
      <p:italic r:id="rId18"/>
      <p:boldItalic r:id="rId19"/>
    </p:embeddedFont>
    <p:embeddedFont>
      <p:font typeface="Baskervville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skervville-regular.fntdata"/><Relationship Id="rId11" Type="http://schemas.openxmlformats.org/officeDocument/2006/relationships/slide" Target="slides/slide7.xml"/><Relationship Id="rId22" Type="http://schemas.openxmlformats.org/officeDocument/2006/relationships/font" Target="fonts/Baskervville-italic.fntdata"/><Relationship Id="rId10" Type="http://schemas.openxmlformats.org/officeDocument/2006/relationships/slide" Target="slides/slide6.xml"/><Relationship Id="rId21" Type="http://schemas.openxmlformats.org/officeDocument/2006/relationships/font" Target="fonts/Baskervville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Baskervville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5" Type="http://schemas.openxmlformats.org/officeDocument/2006/relationships/slide" Target="slides/slide1.xml"/><Relationship Id="rId19" Type="http://schemas.openxmlformats.org/officeDocument/2006/relationships/font" Target="fonts/Poppins-boldItalic.fntdata"/><Relationship Id="rId6" Type="http://schemas.openxmlformats.org/officeDocument/2006/relationships/slide" Target="slides/slide2.xml"/><Relationship Id="rId18" Type="http://schemas.openxmlformats.org/officeDocument/2006/relationships/font" Target="fonts/Poppi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1" name="Google Shape;5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hyperlink" Target="https://github.com/Ahad-Muhib/Not-Following-Robot" TargetMode="External"/><Relationship Id="rId5" Type="http://schemas.openxmlformats.org/officeDocument/2006/relationships/hyperlink" Target="https://drive.google.com/file/d/1wkA-kMDY21Ft8_WBFQL3A5vMwbCA_5lF/view?usp=sharin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hyperlink" Target="https://drive.google.com/file/d/1zlGPSLdt31QK9mADAdUIgmYkmwixvs34/view?usp=sharing" TargetMode="External"/><Relationship Id="rId6" Type="http://schemas.openxmlformats.org/officeDocument/2006/relationships/hyperlink" Target="https://drive.google.com/file/d/1zlGPSLdt31QK9mADAdUIgmYkmwixvs34/view?usp=sharing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0" name="Google Shape;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405705" y="1429941"/>
            <a:ext cx="4903589" cy="1041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53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3250"/>
              <a:buFont typeface="Baskervville"/>
              <a:buNone/>
            </a:pPr>
            <a:r>
              <a:rPr b="0" i="0" lang="en-US" sz="3250" u="none" cap="none" strike="noStrike">
                <a:solidFill>
                  <a:srgbClr val="787878"/>
                </a:solidFill>
                <a:latin typeface="Baskervville"/>
                <a:ea typeface="Baskervville"/>
                <a:cs typeface="Baskervville"/>
                <a:sym typeface="Baskervville"/>
              </a:rPr>
              <a:t>PID-Based Line Following Robot</a:t>
            </a:r>
            <a:endParaRPr b="0" i="0" sz="3250" u="none" cap="none" strike="noStrike"/>
          </a:p>
        </p:txBody>
      </p:sp>
      <p:sp>
        <p:nvSpPr>
          <p:cNvPr id="62" name="Google Shape;62;p14"/>
          <p:cNvSpPr/>
          <p:nvPr/>
        </p:nvSpPr>
        <p:spPr>
          <a:xfrm>
            <a:off x="405705" y="2517800"/>
            <a:ext cx="4903589" cy="52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600"/>
              <a:buFont typeface="Baskervville"/>
              <a:buNone/>
            </a:pPr>
            <a:r>
              <a:rPr b="0" i="0" lang="en-US" sz="1600" u="none" cap="none" strike="noStrike">
                <a:solidFill>
                  <a:srgbClr val="787878"/>
                </a:solidFill>
                <a:latin typeface="Baskervville"/>
                <a:ea typeface="Baskervville"/>
                <a:cs typeface="Baskervville"/>
                <a:sym typeface="Baskervville"/>
              </a:rPr>
              <a:t>Individual Contribution Presentation — Coding &amp; PID Algorithm Development</a:t>
            </a:r>
            <a:endParaRPr b="0" i="0" sz="1600" u="none" cap="none" strike="noStrike"/>
          </a:p>
        </p:txBody>
      </p:sp>
      <p:sp>
        <p:nvSpPr>
          <p:cNvPr id="63" name="Google Shape;63;p14"/>
          <p:cNvSpPr/>
          <p:nvPr/>
        </p:nvSpPr>
        <p:spPr>
          <a:xfrm>
            <a:off x="405705" y="3212232"/>
            <a:ext cx="4903589" cy="18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Robotics Project</a:t>
            </a:r>
            <a:endParaRPr b="0" i="0" sz="900" u="none" cap="none" strike="noStrike"/>
          </a:p>
        </p:txBody>
      </p:sp>
      <p:sp>
        <p:nvSpPr>
          <p:cNvPr id="64" name="Google Shape;64;p14"/>
          <p:cNvSpPr/>
          <p:nvPr/>
        </p:nvSpPr>
        <p:spPr>
          <a:xfrm>
            <a:off x="405705" y="3528045"/>
            <a:ext cx="4903589" cy="18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None/>
            </a:pPr>
            <a:r>
              <a:t/>
            </a:r>
            <a:endParaRPr b="0" i="0" sz="9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2905497" y="1048345"/>
            <a:ext cx="3332931" cy="416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2600"/>
              <a:buFont typeface="Baskervville"/>
              <a:buNone/>
            </a:pPr>
            <a:r>
              <a:rPr b="0" i="0" lang="en-US" sz="2600" u="none" cap="none" strike="noStrike">
                <a:solidFill>
                  <a:srgbClr val="787878"/>
                </a:solidFill>
                <a:latin typeface="Baskervville"/>
                <a:ea typeface="Baskervville"/>
                <a:cs typeface="Baskervville"/>
                <a:sym typeface="Baskervville"/>
              </a:rPr>
              <a:t>Presented by:</a:t>
            </a:r>
            <a:endParaRPr b="0" i="0" sz="2600" u="none" cap="none" strike="noStrike"/>
          </a:p>
        </p:txBody>
      </p:sp>
      <p:sp>
        <p:nvSpPr>
          <p:cNvPr id="71" name="Google Shape;71;p15"/>
          <p:cNvSpPr/>
          <p:nvPr/>
        </p:nvSpPr>
        <p:spPr>
          <a:xfrm>
            <a:off x="405705" y="1696715"/>
            <a:ext cx="8332589" cy="18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Muhib Al Ahad</a:t>
            </a:r>
            <a:endParaRPr b="0" i="0" sz="900" u="none" cap="none" strike="noStrike"/>
          </a:p>
        </p:txBody>
      </p:sp>
      <p:sp>
        <p:nvSpPr>
          <p:cNvPr id="72" name="Google Shape;72;p15"/>
          <p:cNvSpPr/>
          <p:nvPr/>
        </p:nvSpPr>
        <p:spPr>
          <a:xfrm>
            <a:off x="405705" y="2012528"/>
            <a:ext cx="8332589" cy="18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Reg ID: 22201207</a:t>
            </a:r>
            <a:endParaRPr b="0" i="0" sz="900" u="none" cap="none" strike="noStrike"/>
          </a:p>
        </p:txBody>
      </p:sp>
      <p:sp>
        <p:nvSpPr>
          <p:cNvPr id="73" name="Google Shape;73;p15"/>
          <p:cNvSpPr/>
          <p:nvPr/>
        </p:nvSpPr>
        <p:spPr>
          <a:xfrm>
            <a:off x="405705" y="2328342"/>
            <a:ext cx="8332589" cy="18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None/>
            </a:pPr>
            <a:r>
              <a:t/>
            </a:r>
            <a:endParaRPr b="0" i="0" sz="900" u="none" cap="none" strike="noStrike"/>
          </a:p>
        </p:txBody>
      </p:sp>
      <p:sp>
        <p:nvSpPr>
          <p:cNvPr id="74" name="Google Shape;74;p15"/>
          <p:cNvSpPr/>
          <p:nvPr/>
        </p:nvSpPr>
        <p:spPr>
          <a:xfrm>
            <a:off x="2905497" y="2687613"/>
            <a:ext cx="3332931" cy="416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2600"/>
              <a:buFont typeface="Baskervville"/>
              <a:buNone/>
            </a:pPr>
            <a:r>
              <a:rPr b="0" i="0" lang="en-US" sz="2600" u="none" cap="none" strike="noStrike">
                <a:solidFill>
                  <a:srgbClr val="787878"/>
                </a:solidFill>
                <a:latin typeface="Baskervville"/>
                <a:ea typeface="Baskervville"/>
                <a:cs typeface="Baskervville"/>
                <a:sym typeface="Baskervville"/>
              </a:rPr>
              <a:t>Presented to:</a:t>
            </a:r>
            <a:endParaRPr b="0" i="0" sz="2600" u="none" cap="none" strike="noStrike"/>
          </a:p>
        </p:txBody>
      </p:sp>
      <p:sp>
        <p:nvSpPr>
          <p:cNvPr id="75" name="Google Shape;75;p15"/>
          <p:cNvSpPr/>
          <p:nvPr/>
        </p:nvSpPr>
        <p:spPr>
          <a:xfrm>
            <a:off x="405705" y="3278014"/>
            <a:ext cx="8332589" cy="18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Dr. Nazmun Nahid</a:t>
            </a:r>
            <a:endParaRPr b="0" i="0" sz="900" u="none" cap="none" strike="noStrike"/>
          </a:p>
        </p:txBody>
      </p:sp>
      <p:sp>
        <p:nvSpPr>
          <p:cNvPr id="76" name="Google Shape;76;p15"/>
          <p:cNvSpPr/>
          <p:nvPr/>
        </p:nvSpPr>
        <p:spPr>
          <a:xfrm>
            <a:off x="405705" y="3593827"/>
            <a:ext cx="8332589" cy="18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Assistant Professor</a:t>
            </a:r>
            <a:endParaRPr b="0" i="0" sz="900" u="none" cap="none" strike="noStrike"/>
          </a:p>
        </p:txBody>
      </p:sp>
      <p:sp>
        <p:nvSpPr>
          <p:cNvPr id="77" name="Google Shape;77;p15"/>
          <p:cNvSpPr/>
          <p:nvPr/>
        </p:nvSpPr>
        <p:spPr>
          <a:xfrm>
            <a:off x="405705" y="3909640"/>
            <a:ext cx="8332589" cy="18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University of Asia Pacific</a:t>
            </a:r>
            <a:endParaRPr b="0" i="0" sz="9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3" name="Google Shape;8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/>
          <p:nvPr/>
        </p:nvSpPr>
        <p:spPr>
          <a:xfrm>
            <a:off x="405705" y="1480096"/>
            <a:ext cx="4166220" cy="5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53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3250"/>
              <a:buFont typeface="Baskervville"/>
              <a:buNone/>
            </a:pPr>
            <a:r>
              <a:rPr b="0" i="0" lang="en-US" sz="3250" u="none" cap="none" strike="noStrike">
                <a:solidFill>
                  <a:srgbClr val="787878"/>
                </a:solidFill>
                <a:latin typeface="Baskervville"/>
                <a:ea typeface="Baskervville"/>
                <a:cs typeface="Baskervville"/>
                <a:sym typeface="Baskervville"/>
              </a:rPr>
              <a:t>Executive Summary</a:t>
            </a:r>
            <a:endParaRPr b="0" i="0" sz="3250" u="none" cap="none" strike="noStrike"/>
          </a:p>
        </p:txBody>
      </p:sp>
      <p:sp>
        <p:nvSpPr>
          <p:cNvPr id="85" name="Google Shape;85;p16"/>
          <p:cNvSpPr/>
          <p:nvPr/>
        </p:nvSpPr>
        <p:spPr>
          <a:xfrm>
            <a:off x="405705" y="2174677"/>
            <a:ext cx="1557263" cy="1488728"/>
          </a:xfrm>
          <a:prstGeom prst="roundRect">
            <a:avLst>
              <a:gd fmla="val 11681" name="adj"/>
            </a:avLst>
          </a:prstGeom>
          <a:solidFill>
            <a:srgbClr val="ECD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521568" y="2290539"/>
            <a:ext cx="1325538" cy="2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askervville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Baskervville"/>
                <a:ea typeface="Baskervville"/>
                <a:cs typeface="Baskervville"/>
                <a:sym typeface="Baskervville"/>
              </a:rPr>
              <a:t>What It Does</a:t>
            </a:r>
            <a:endParaRPr b="0" i="0" sz="1600" u="none" cap="none" strike="noStrike"/>
          </a:p>
        </p:txBody>
      </p:sp>
      <p:sp>
        <p:nvSpPr>
          <p:cNvPr id="87" name="Google Shape;87;p16"/>
          <p:cNvSpPr/>
          <p:nvPr/>
        </p:nvSpPr>
        <p:spPr>
          <a:xfrm>
            <a:off x="521568" y="2620342"/>
            <a:ext cx="1325538" cy="741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Autonomously tracks a line using IR sensors and real-time motor correction</a:t>
            </a:r>
            <a:endParaRPr b="0" i="0" sz="900" u="none" cap="none" strike="noStrike"/>
          </a:p>
        </p:txBody>
      </p:sp>
      <p:sp>
        <p:nvSpPr>
          <p:cNvPr id="88" name="Google Shape;88;p16"/>
          <p:cNvSpPr/>
          <p:nvPr/>
        </p:nvSpPr>
        <p:spPr>
          <a:xfrm>
            <a:off x="2078831" y="2174677"/>
            <a:ext cx="1557263" cy="1488728"/>
          </a:xfrm>
          <a:prstGeom prst="roundRect">
            <a:avLst>
              <a:gd fmla="val 11681" name="adj"/>
            </a:avLst>
          </a:prstGeom>
          <a:solidFill>
            <a:srgbClr val="ECD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2194694" y="2290539"/>
            <a:ext cx="1325538" cy="2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askervville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Baskervville"/>
                <a:ea typeface="Baskervville"/>
                <a:cs typeface="Baskervville"/>
                <a:sym typeface="Baskervville"/>
              </a:rPr>
              <a:t>Why PID?</a:t>
            </a:r>
            <a:endParaRPr b="0" i="0" sz="1600" u="none" cap="none" strike="noStrike"/>
          </a:p>
        </p:txBody>
      </p:sp>
      <p:sp>
        <p:nvSpPr>
          <p:cNvPr id="90" name="Google Shape;90;p16"/>
          <p:cNvSpPr/>
          <p:nvPr/>
        </p:nvSpPr>
        <p:spPr>
          <a:xfrm>
            <a:off x="2194694" y="2620342"/>
            <a:ext cx="1325538" cy="927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Proportional-Integral-Derivative control eliminates oscillation and ensures smooth, stable tracking</a:t>
            </a:r>
            <a:endParaRPr b="0" i="0" sz="900" u="none" cap="none" strike="noStrike"/>
          </a:p>
        </p:txBody>
      </p:sp>
      <p:sp>
        <p:nvSpPr>
          <p:cNvPr id="91" name="Google Shape;91;p16"/>
          <p:cNvSpPr/>
          <p:nvPr/>
        </p:nvSpPr>
        <p:spPr>
          <a:xfrm>
            <a:off x="3751957" y="2174677"/>
            <a:ext cx="1557338" cy="1488728"/>
          </a:xfrm>
          <a:prstGeom prst="roundRect">
            <a:avLst>
              <a:gd fmla="val 11681" name="adj"/>
            </a:avLst>
          </a:prstGeom>
          <a:solidFill>
            <a:srgbClr val="ECD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3867820" y="2290539"/>
            <a:ext cx="1325612" cy="2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askervville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Baskervville"/>
                <a:ea typeface="Baskervville"/>
                <a:cs typeface="Baskervville"/>
                <a:sym typeface="Baskervville"/>
              </a:rPr>
              <a:t>Key Result</a:t>
            </a:r>
            <a:endParaRPr b="0" i="0" sz="1600" u="none" cap="none" strike="noStrike"/>
          </a:p>
        </p:txBody>
      </p:sp>
      <p:sp>
        <p:nvSpPr>
          <p:cNvPr id="93" name="Google Shape;93;p16"/>
          <p:cNvSpPr/>
          <p:nvPr/>
        </p:nvSpPr>
        <p:spPr>
          <a:xfrm>
            <a:off x="3867820" y="2620342"/>
            <a:ext cx="1325612" cy="741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Achieved smooth, continuous line tracking with minimal deviation at speed</a:t>
            </a:r>
            <a:endParaRPr b="0" i="0" sz="9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/>
        </p:nvSpPr>
        <p:spPr>
          <a:xfrm>
            <a:off x="405705" y="1339081"/>
            <a:ext cx="4166220" cy="5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53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3250"/>
              <a:buFont typeface="Baskervville"/>
              <a:buNone/>
            </a:pPr>
            <a:r>
              <a:rPr b="0" i="0" lang="en-US" sz="3250" u="none" cap="none" strike="noStrike">
                <a:solidFill>
                  <a:srgbClr val="787878"/>
                </a:solidFill>
                <a:latin typeface="Baskervville"/>
                <a:ea typeface="Baskervville"/>
                <a:cs typeface="Baskervville"/>
                <a:sym typeface="Baskervville"/>
              </a:rPr>
              <a:t>My Contribution</a:t>
            </a:r>
            <a:endParaRPr b="0" i="0" sz="3250" u="none" cap="none" strike="noStrike"/>
          </a:p>
        </p:txBody>
      </p:sp>
      <p:pic>
        <p:nvPicPr>
          <p:cNvPr descr="preencoded.png" id="100" name="Google Shape;10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705" y="2091630"/>
            <a:ext cx="231800" cy="2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782389" y="2131442"/>
            <a:ext cx="2083073" cy="2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1600"/>
              <a:buFont typeface="Baskervville"/>
              <a:buNone/>
            </a:pPr>
            <a:r>
              <a:rPr b="0" i="0" lang="en-US" sz="1600" u="none" cap="none" strike="noStrike">
                <a:solidFill>
                  <a:srgbClr val="6E6666"/>
                </a:solidFill>
                <a:latin typeface="Baskervville"/>
                <a:ea typeface="Baskervville"/>
                <a:cs typeface="Baskervville"/>
                <a:sym typeface="Baskervville"/>
              </a:rPr>
              <a:t>PID Algorithm</a:t>
            </a:r>
            <a:endParaRPr b="0" i="0" sz="1600" u="none" cap="none" strike="noStrike"/>
          </a:p>
        </p:txBody>
      </p:sp>
      <p:sp>
        <p:nvSpPr>
          <p:cNvPr id="102" name="Google Shape;102;p17"/>
          <p:cNvSpPr/>
          <p:nvPr/>
        </p:nvSpPr>
        <p:spPr>
          <a:xfrm>
            <a:off x="782389" y="2461245"/>
            <a:ext cx="3717131" cy="18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Developed the PID control loop in C++ for the Arduino NANO</a:t>
            </a:r>
            <a:endParaRPr b="0" i="0" sz="900" u="none" cap="none" strike="noStrike"/>
          </a:p>
        </p:txBody>
      </p:sp>
      <p:pic>
        <p:nvPicPr>
          <p:cNvPr descr="preencoded.png" id="103" name="Google Shape;10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4405" y="2091630"/>
            <a:ext cx="231800" cy="2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/>
          <p:nvPr/>
        </p:nvSpPr>
        <p:spPr>
          <a:xfrm>
            <a:off x="5021089" y="2131442"/>
            <a:ext cx="2083073" cy="2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1600"/>
              <a:buFont typeface="Baskervville"/>
              <a:buNone/>
            </a:pPr>
            <a:r>
              <a:rPr b="0" i="0" lang="en-US" sz="1600" u="none" cap="none" strike="noStrike">
                <a:solidFill>
                  <a:srgbClr val="6E6666"/>
                </a:solidFill>
                <a:latin typeface="Baskervville"/>
                <a:ea typeface="Baskervville"/>
                <a:cs typeface="Baskervville"/>
                <a:sym typeface="Baskervville"/>
              </a:rPr>
              <a:t>Hardware Integration</a:t>
            </a:r>
            <a:endParaRPr b="0" i="0" sz="1600" u="none" cap="none" strike="noStrike"/>
          </a:p>
        </p:txBody>
      </p:sp>
      <p:sp>
        <p:nvSpPr>
          <p:cNvPr id="105" name="Google Shape;105;p17"/>
          <p:cNvSpPr/>
          <p:nvPr/>
        </p:nvSpPr>
        <p:spPr>
          <a:xfrm>
            <a:off x="5021089" y="2461245"/>
            <a:ext cx="3717206" cy="37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Built and wired the IR sensor array, motor driver connections, buck converter, and Arduino NANO connections</a:t>
            </a:r>
            <a:endParaRPr b="0" i="0" sz="900" u="none" cap="none" strike="noStrike"/>
          </a:p>
        </p:txBody>
      </p:sp>
      <p:pic>
        <p:nvPicPr>
          <p:cNvPr descr="preencoded.png" id="106" name="Google Shape;10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5705" y="3063925"/>
            <a:ext cx="231800" cy="2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/>
          <p:nvPr/>
        </p:nvSpPr>
        <p:spPr>
          <a:xfrm>
            <a:off x="782389" y="3103736"/>
            <a:ext cx="2226841" cy="2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1600"/>
              <a:buFont typeface="Baskervville"/>
              <a:buNone/>
            </a:pPr>
            <a:r>
              <a:rPr b="0" i="0" lang="en-US" sz="1600" u="none" cap="none" strike="noStrike">
                <a:solidFill>
                  <a:srgbClr val="6E6666"/>
                </a:solidFill>
                <a:latin typeface="Baskervville"/>
                <a:ea typeface="Baskervville"/>
                <a:cs typeface="Baskervville"/>
                <a:sym typeface="Baskervville"/>
              </a:rPr>
              <a:t>Motor Speed Correction</a:t>
            </a:r>
            <a:endParaRPr b="0" i="0" sz="1600" u="none" cap="none" strike="noStrike"/>
          </a:p>
        </p:txBody>
      </p:sp>
      <p:sp>
        <p:nvSpPr>
          <p:cNvPr id="108" name="Google Shape;108;p17"/>
          <p:cNvSpPr/>
          <p:nvPr/>
        </p:nvSpPr>
        <p:spPr>
          <a:xfrm>
            <a:off x="782389" y="3433539"/>
            <a:ext cx="3717131" cy="37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Mapped PID output to differential PWM signals for the left and right motors</a:t>
            </a:r>
            <a:endParaRPr b="0" i="0" sz="900" u="none" cap="none" strike="noStrike"/>
          </a:p>
        </p:txBody>
      </p:sp>
      <p:pic>
        <p:nvPicPr>
          <p:cNvPr descr="preencoded.png" id="109" name="Google Shape;10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4405" y="3063925"/>
            <a:ext cx="231800" cy="2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/>
          <p:nvPr/>
        </p:nvSpPr>
        <p:spPr>
          <a:xfrm>
            <a:off x="5021089" y="3103736"/>
            <a:ext cx="2173486" cy="2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1600"/>
              <a:buFont typeface="Baskervville"/>
              <a:buNone/>
            </a:pPr>
            <a:r>
              <a:rPr b="0" i="0" lang="en-US" sz="1600" u="none" cap="none" strike="noStrike">
                <a:solidFill>
                  <a:srgbClr val="6E6666"/>
                </a:solidFill>
                <a:latin typeface="Baskervville"/>
                <a:ea typeface="Baskervville"/>
                <a:cs typeface="Baskervville"/>
                <a:sym typeface="Baskervville"/>
              </a:rPr>
              <a:t>Tuning &amp; Optimization</a:t>
            </a:r>
            <a:endParaRPr b="0" i="0" sz="1600" u="none" cap="none" strike="noStrike"/>
          </a:p>
        </p:txBody>
      </p:sp>
      <p:sp>
        <p:nvSpPr>
          <p:cNvPr id="111" name="Google Shape;111;p17"/>
          <p:cNvSpPr/>
          <p:nvPr/>
        </p:nvSpPr>
        <p:spPr>
          <a:xfrm>
            <a:off x="5021089" y="3433539"/>
            <a:ext cx="3717206" cy="37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Iteratively tuned Kp, Ki, and Kd values while calibrating the hardware for stable performance</a:t>
            </a:r>
            <a:endParaRPr b="0" i="0" sz="9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/>
          <p:nvPr/>
        </p:nvSpPr>
        <p:spPr>
          <a:xfrm>
            <a:off x="431825" y="321097"/>
            <a:ext cx="3450134" cy="431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74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2700"/>
              <a:buFont typeface="Baskervville"/>
              <a:buNone/>
            </a:pPr>
            <a:r>
              <a:rPr b="0" i="0" lang="en-US" sz="2700" u="none" cap="none" strike="noStrike">
                <a:solidFill>
                  <a:srgbClr val="787878"/>
                </a:solidFill>
                <a:latin typeface="Baskervville"/>
                <a:ea typeface="Baskervville"/>
                <a:cs typeface="Baskervville"/>
                <a:sym typeface="Baskervville"/>
              </a:rPr>
              <a:t>Algorithm Flow</a:t>
            </a:r>
            <a:endParaRPr b="0" i="0" sz="2700" u="none" cap="none" strike="noStrike"/>
          </a:p>
        </p:txBody>
      </p:sp>
      <p:sp>
        <p:nvSpPr>
          <p:cNvPr id="118" name="Google Shape;118;p18"/>
          <p:cNvSpPr/>
          <p:nvPr/>
        </p:nvSpPr>
        <p:spPr>
          <a:xfrm>
            <a:off x="431825" y="960909"/>
            <a:ext cx="4704234" cy="3419921"/>
          </a:xfrm>
          <a:prstGeom prst="roundRect">
            <a:avLst>
              <a:gd fmla="val 421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427062" y="960909"/>
            <a:ext cx="4713759" cy="3419921"/>
          </a:xfrm>
          <a:prstGeom prst="roundRect">
            <a:avLst>
              <a:gd fmla="val 42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547018" y="1056903"/>
            <a:ext cx="4473848" cy="3227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START</a:t>
            </a:r>
            <a:b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Initialize Sensors, Motors &amp; PID Values</a:t>
            </a:r>
            <a:b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WHILE robot is running</a:t>
            </a:r>
            <a:b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Read IR Sensor Values</a:t>
            </a:r>
            <a:b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Calculate Line Error</a:t>
            </a:r>
            <a:b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Apply PID Control</a:t>
            </a:r>
            <a:b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(P + I + D)</a:t>
            </a:r>
            <a:b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Generate Correction Value</a:t>
            </a:r>
            <a:b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Adjust Left &amp; Right</a:t>
            </a:r>
            <a:b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Motor Speed using PWM</a:t>
            </a:r>
            <a:b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   Move Robot Forward</a:t>
            </a:r>
            <a:b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END WHILE</a:t>
            </a:r>
            <a:b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750" u="none" cap="none" strike="noStrike">
                <a:solidFill>
                  <a:srgbClr val="D73A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b="0" i="0" sz="750" u="none" cap="none" strike="noStrike"/>
          </a:p>
        </p:txBody>
      </p:sp>
      <p:sp>
        <p:nvSpPr>
          <p:cNvPr id="121" name="Google Shape;121;p18"/>
          <p:cNvSpPr/>
          <p:nvPr/>
        </p:nvSpPr>
        <p:spPr>
          <a:xfrm>
            <a:off x="431825" y="4470202"/>
            <a:ext cx="4704234" cy="280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750"/>
              <a:buFont typeface="Poppins"/>
              <a:buNone/>
            </a:pPr>
            <a:r>
              <a:rPr b="0" i="0" lang="en-US" sz="750" u="none" cap="none" strike="noStrike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The control loop runs continuously at a fixed sampling rate, enabling real-time correction with minimal latency.</a:t>
            </a:r>
            <a:endParaRPr b="0" i="0" sz="750" u="none" cap="none" strike="noStrike"/>
          </a:p>
        </p:txBody>
      </p:sp>
      <p:sp>
        <p:nvSpPr>
          <p:cNvPr id="122" name="Google Shape;122;p18"/>
          <p:cNvSpPr/>
          <p:nvPr/>
        </p:nvSpPr>
        <p:spPr>
          <a:xfrm>
            <a:off x="5374928" y="960909"/>
            <a:ext cx="3341936" cy="655960"/>
          </a:xfrm>
          <a:prstGeom prst="roundRect">
            <a:avLst>
              <a:gd fmla="val 10455" name="adj"/>
            </a:avLst>
          </a:prstGeom>
          <a:solidFill>
            <a:srgbClr val="FFFFFF"/>
          </a:solidFill>
          <a:ln cap="flat" cmpd="sng" w="14275">
            <a:solidFill>
              <a:srgbClr val="D2C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5360640" y="960909"/>
            <a:ext cx="57150" cy="655960"/>
          </a:xfrm>
          <a:prstGeom prst="roundRect">
            <a:avLst>
              <a:gd fmla="val 251981" name="adj"/>
            </a:avLst>
          </a:prstGeom>
          <a:solidFill>
            <a:srgbClr val="C7A2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5528072" y="1071190"/>
            <a:ext cx="1725067" cy="215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1350"/>
              <a:buFont typeface="Baskervville"/>
              <a:buNone/>
            </a:pPr>
            <a:r>
              <a:rPr b="0" i="0" lang="en-US" sz="1350" u="none" cap="none" strike="noStrike">
                <a:solidFill>
                  <a:srgbClr val="6E6666"/>
                </a:solidFill>
                <a:latin typeface="Baskervville"/>
                <a:ea typeface="Baskervville"/>
                <a:cs typeface="Baskervville"/>
                <a:sym typeface="Baskervville"/>
              </a:rPr>
              <a:t>Kp = 7</a:t>
            </a:r>
            <a:endParaRPr b="0" i="0" sz="1350" u="none" cap="none" strike="noStrike"/>
          </a:p>
        </p:txBody>
      </p:sp>
      <p:sp>
        <p:nvSpPr>
          <p:cNvPr id="125" name="Google Shape;125;p18"/>
          <p:cNvSpPr/>
          <p:nvPr/>
        </p:nvSpPr>
        <p:spPr>
          <a:xfrm>
            <a:off x="5528072" y="1366242"/>
            <a:ext cx="3078510" cy="140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750"/>
              <a:buFont typeface="Poppins"/>
              <a:buNone/>
            </a:pPr>
            <a:r>
              <a:rPr b="0" i="0" lang="en-US" sz="750" u="none" cap="none" strike="noStrike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Strong proportional response — fast correction</a:t>
            </a:r>
            <a:endParaRPr b="0" i="0" sz="750" u="none" cap="none" strike="noStrike"/>
          </a:p>
        </p:txBody>
      </p:sp>
      <p:sp>
        <p:nvSpPr>
          <p:cNvPr id="126" name="Google Shape;126;p18"/>
          <p:cNvSpPr/>
          <p:nvPr/>
        </p:nvSpPr>
        <p:spPr>
          <a:xfrm>
            <a:off x="5374928" y="1696343"/>
            <a:ext cx="3341936" cy="655960"/>
          </a:xfrm>
          <a:prstGeom prst="roundRect">
            <a:avLst>
              <a:gd fmla="val 10455" name="adj"/>
            </a:avLst>
          </a:prstGeom>
          <a:solidFill>
            <a:srgbClr val="FFFFFF"/>
          </a:solidFill>
          <a:ln cap="flat" cmpd="sng" w="14275">
            <a:solidFill>
              <a:srgbClr val="D2C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5360640" y="1696343"/>
            <a:ext cx="57150" cy="655960"/>
          </a:xfrm>
          <a:prstGeom prst="roundRect">
            <a:avLst>
              <a:gd fmla="val 251981" name="adj"/>
            </a:avLst>
          </a:prstGeom>
          <a:solidFill>
            <a:srgbClr val="C7A2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5528072" y="1806625"/>
            <a:ext cx="1725067" cy="215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1350"/>
              <a:buFont typeface="Baskervville"/>
              <a:buNone/>
            </a:pPr>
            <a:r>
              <a:rPr b="0" i="0" lang="en-US" sz="1350" u="none" cap="none" strike="noStrike">
                <a:solidFill>
                  <a:srgbClr val="6E6666"/>
                </a:solidFill>
                <a:latin typeface="Baskervville"/>
                <a:ea typeface="Baskervville"/>
                <a:cs typeface="Baskervville"/>
                <a:sym typeface="Baskervville"/>
              </a:rPr>
              <a:t>Ki = 0.001</a:t>
            </a:r>
            <a:endParaRPr b="0" i="0" sz="1350" u="none" cap="none" strike="noStrike"/>
          </a:p>
        </p:txBody>
      </p:sp>
      <p:sp>
        <p:nvSpPr>
          <p:cNvPr id="129" name="Google Shape;129;p18"/>
          <p:cNvSpPr/>
          <p:nvPr/>
        </p:nvSpPr>
        <p:spPr>
          <a:xfrm>
            <a:off x="5528072" y="2101676"/>
            <a:ext cx="3078510" cy="140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750"/>
              <a:buFont typeface="Poppins"/>
              <a:buNone/>
            </a:pPr>
            <a:r>
              <a:rPr b="0" i="0" lang="en-US" sz="750" u="none" cap="none" strike="noStrike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Low integral — prevents drift without windup</a:t>
            </a:r>
            <a:endParaRPr b="0" i="0" sz="750" u="none" cap="none" strike="noStrike"/>
          </a:p>
        </p:txBody>
      </p:sp>
      <p:sp>
        <p:nvSpPr>
          <p:cNvPr id="130" name="Google Shape;130;p18"/>
          <p:cNvSpPr/>
          <p:nvPr/>
        </p:nvSpPr>
        <p:spPr>
          <a:xfrm>
            <a:off x="5374928" y="2431777"/>
            <a:ext cx="3341936" cy="655960"/>
          </a:xfrm>
          <a:prstGeom prst="roundRect">
            <a:avLst>
              <a:gd fmla="val 10455" name="adj"/>
            </a:avLst>
          </a:prstGeom>
          <a:solidFill>
            <a:srgbClr val="FFFFFF"/>
          </a:solidFill>
          <a:ln cap="flat" cmpd="sng" w="14275">
            <a:solidFill>
              <a:srgbClr val="D2C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5360640" y="2431777"/>
            <a:ext cx="57150" cy="655960"/>
          </a:xfrm>
          <a:prstGeom prst="roundRect">
            <a:avLst>
              <a:gd fmla="val 251981" name="adj"/>
            </a:avLst>
          </a:prstGeom>
          <a:solidFill>
            <a:srgbClr val="C7A2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5528072" y="2542059"/>
            <a:ext cx="1725067" cy="215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1350"/>
              <a:buFont typeface="Baskervville"/>
              <a:buNone/>
            </a:pPr>
            <a:r>
              <a:rPr b="0" i="0" lang="en-US" sz="1350" u="none" cap="none" strike="noStrike">
                <a:solidFill>
                  <a:srgbClr val="6E6666"/>
                </a:solidFill>
                <a:latin typeface="Baskervville"/>
                <a:ea typeface="Baskervville"/>
                <a:cs typeface="Baskervville"/>
                <a:sym typeface="Baskervville"/>
              </a:rPr>
              <a:t>Kd = 0.4</a:t>
            </a:r>
            <a:endParaRPr b="0" i="0" sz="1350" u="none" cap="none" strike="noStrike"/>
          </a:p>
        </p:txBody>
      </p:sp>
      <p:sp>
        <p:nvSpPr>
          <p:cNvPr id="133" name="Google Shape;133;p18"/>
          <p:cNvSpPr/>
          <p:nvPr/>
        </p:nvSpPr>
        <p:spPr>
          <a:xfrm>
            <a:off x="5528072" y="2837111"/>
            <a:ext cx="3078510" cy="140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750"/>
              <a:buFont typeface="Poppins"/>
              <a:buNone/>
            </a:pPr>
            <a:r>
              <a:rPr b="0" i="0" lang="en-US" sz="750" u="none" cap="none" strike="noStrike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Moderate derivative — smooth, stable turns</a:t>
            </a:r>
            <a:endParaRPr b="0" i="0" sz="750" u="none" cap="none" strike="noStrike"/>
          </a:p>
        </p:txBody>
      </p:sp>
      <p:sp>
        <p:nvSpPr>
          <p:cNvPr id="134" name="Google Shape;134;p18"/>
          <p:cNvSpPr/>
          <p:nvPr/>
        </p:nvSpPr>
        <p:spPr>
          <a:xfrm>
            <a:off x="5374928" y="3177108"/>
            <a:ext cx="3341936" cy="1007120"/>
          </a:xfrm>
          <a:prstGeom prst="roundRect">
            <a:avLst>
              <a:gd fmla="val 14299" name="adj"/>
            </a:avLst>
          </a:prstGeom>
          <a:solidFill>
            <a:srgbClr val="E2CF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0922" y="3299445"/>
            <a:ext cx="258738" cy="20694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/>
          <p:nvPr/>
        </p:nvSpPr>
        <p:spPr>
          <a:xfrm>
            <a:off x="5825654" y="3280544"/>
            <a:ext cx="2795215" cy="7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askervville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Baskervville"/>
                <a:ea typeface="Baskervville"/>
                <a:cs typeface="Baskervville"/>
                <a:sym typeface="Baskervville"/>
              </a:rPr>
              <a:t>Correction = (Kp × Error) + (Ki × Integral) + (Kd × Derivative)</a:t>
            </a:r>
            <a:endParaRPr b="0" i="0" sz="1600" u="none" cap="none" strike="noStrike"/>
          </a:p>
        </p:txBody>
      </p:sp>
      <p:sp>
        <p:nvSpPr>
          <p:cNvPr id="137" name="Google Shape;137;p18"/>
          <p:cNvSpPr/>
          <p:nvPr/>
        </p:nvSpPr>
        <p:spPr>
          <a:xfrm>
            <a:off x="5374928" y="4273600"/>
            <a:ext cx="3341936" cy="140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7A2AC"/>
              </a:buClr>
              <a:buSzPts val="750"/>
              <a:buFont typeface="Poppins"/>
              <a:buNone/>
            </a:pPr>
            <a:r>
              <a:rPr b="0" i="0" lang="en-US" sz="75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Github Project Link here</a:t>
            </a:r>
            <a:endParaRPr b="0" i="0" sz="750" u="none" cap="none" strike="noStrike"/>
          </a:p>
        </p:txBody>
      </p:sp>
      <p:sp>
        <p:nvSpPr>
          <p:cNvPr id="138" name="Google Shape;138;p18"/>
          <p:cNvSpPr/>
          <p:nvPr/>
        </p:nvSpPr>
        <p:spPr>
          <a:xfrm>
            <a:off x="5374928" y="4485456"/>
            <a:ext cx="3341936" cy="140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7A2AC"/>
              </a:buClr>
              <a:buSzPts val="750"/>
              <a:buFont typeface="Poppins"/>
              <a:buNone/>
            </a:pPr>
            <a:r>
              <a:rPr b="0" i="0" lang="en-US" sz="75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5"/>
              </a:rPr>
              <a:t>Full Pseudocode &amp; Flow Diagram here</a:t>
            </a:r>
            <a:endParaRPr b="0" i="0" sz="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/>
          <p:nvPr/>
        </p:nvSpPr>
        <p:spPr>
          <a:xfrm>
            <a:off x="361355" y="330250"/>
            <a:ext cx="3710508" cy="463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2900"/>
              <a:buFont typeface="Baskervville"/>
              <a:buNone/>
            </a:pPr>
            <a:r>
              <a:rPr b="0" i="0" lang="en-US" sz="2900" u="none" cap="none" strike="noStrike">
                <a:solidFill>
                  <a:srgbClr val="787878"/>
                </a:solidFill>
                <a:latin typeface="Baskervville"/>
                <a:ea typeface="Baskervville"/>
                <a:cs typeface="Baskervville"/>
                <a:sym typeface="Baskervville"/>
              </a:rPr>
              <a:t>Code Logic</a:t>
            </a:r>
            <a:endParaRPr b="0" i="0" sz="2900" u="none" cap="none" strike="noStrike"/>
          </a:p>
        </p:txBody>
      </p:sp>
      <p:sp>
        <p:nvSpPr>
          <p:cNvPr id="145" name="Google Shape;145;p19"/>
          <p:cNvSpPr/>
          <p:nvPr/>
        </p:nvSpPr>
        <p:spPr>
          <a:xfrm>
            <a:off x="361355" y="1023789"/>
            <a:ext cx="1855217" cy="231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450"/>
              <a:buFont typeface="Baskervville"/>
              <a:buNone/>
            </a:pPr>
            <a:r>
              <a:rPr b="0" i="0" lang="en-US" sz="1450" u="none" cap="none" strike="noStrike">
                <a:solidFill>
                  <a:srgbClr val="787878"/>
                </a:solidFill>
                <a:latin typeface="Baskervville"/>
                <a:ea typeface="Baskervville"/>
                <a:cs typeface="Baskervville"/>
                <a:sym typeface="Baskervville"/>
              </a:rPr>
              <a:t>getError()</a:t>
            </a:r>
            <a:endParaRPr b="0" i="0" sz="1450" u="none" cap="none" strike="noStrike"/>
          </a:p>
        </p:txBody>
      </p:sp>
      <p:sp>
        <p:nvSpPr>
          <p:cNvPr id="146" name="Google Shape;146;p19"/>
          <p:cNvSpPr/>
          <p:nvPr/>
        </p:nvSpPr>
        <p:spPr>
          <a:xfrm>
            <a:off x="361355" y="1359098"/>
            <a:ext cx="4084737" cy="1455986"/>
          </a:xfrm>
          <a:prstGeom prst="roundRect">
            <a:avLst>
              <a:gd fmla="val 1063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356220" y="1359098"/>
            <a:ext cx="4095006" cy="1455986"/>
          </a:xfrm>
          <a:prstGeom prst="roundRect">
            <a:avLst>
              <a:gd fmla="val 106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485254" y="1462311"/>
            <a:ext cx="3836938" cy="1249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int getError() {</a:t>
            </a:r>
            <a:endParaRPr b="0" i="0" sz="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  int pos = 0, sum = 0;</a:t>
            </a:r>
            <a:endParaRPr b="0" i="0" sz="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  for (int i=0; i&lt;5; i++) {</a:t>
            </a:r>
            <a:endParaRPr b="0" i="0" sz="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    pos += sensorVal[i] * weight[i];</a:t>
            </a:r>
            <a:endParaRPr b="0" i="0" sz="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    sum += sensorVal[i];</a:t>
            </a:r>
            <a:endParaRPr b="0" i="0" sz="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  return (pos / sum) - CENTER;</a:t>
            </a:r>
            <a:endParaRPr b="0" i="0" sz="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00" u="none" cap="none" strike="noStrike"/>
          </a:p>
        </p:txBody>
      </p:sp>
      <p:sp>
        <p:nvSpPr>
          <p:cNvPr id="149" name="Google Shape;149;p19"/>
          <p:cNvSpPr/>
          <p:nvPr/>
        </p:nvSpPr>
        <p:spPr>
          <a:xfrm>
            <a:off x="361355" y="2918520"/>
            <a:ext cx="1855217" cy="231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450"/>
              <a:buFont typeface="Baskervville"/>
              <a:buNone/>
            </a:pPr>
            <a:r>
              <a:rPr b="0" i="0" lang="en-US" sz="1450" u="none" cap="none" strike="noStrike">
                <a:solidFill>
                  <a:srgbClr val="787878"/>
                </a:solidFill>
                <a:latin typeface="Baskervville"/>
                <a:ea typeface="Baskervville"/>
                <a:cs typeface="Baskervville"/>
                <a:sym typeface="Baskervville"/>
              </a:rPr>
              <a:t>PID()</a:t>
            </a:r>
            <a:endParaRPr b="0" i="0" sz="1450" u="none" cap="none" strike="noStrike"/>
          </a:p>
        </p:txBody>
      </p:sp>
      <p:sp>
        <p:nvSpPr>
          <p:cNvPr id="150" name="Google Shape;150;p19"/>
          <p:cNvSpPr/>
          <p:nvPr/>
        </p:nvSpPr>
        <p:spPr>
          <a:xfrm>
            <a:off x="361355" y="3253829"/>
            <a:ext cx="4084737" cy="1455986"/>
          </a:xfrm>
          <a:prstGeom prst="roundRect">
            <a:avLst>
              <a:gd fmla="val 1063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356220" y="3253829"/>
            <a:ext cx="4095006" cy="1455986"/>
          </a:xfrm>
          <a:prstGeom prst="roundRect">
            <a:avLst>
              <a:gd fmla="val 106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485254" y="3357042"/>
            <a:ext cx="3836938" cy="1249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float PID(int error) {</a:t>
            </a:r>
            <a:endParaRPr b="0" i="0" sz="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  integral += error;</a:t>
            </a:r>
            <a:endParaRPr b="0" i="0" sz="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  float deriv = error - prevError;</a:t>
            </a:r>
            <a:endParaRPr b="0" i="0" sz="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  prevError = error;</a:t>
            </a:r>
            <a:endParaRPr b="0" i="0" sz="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  return Kp*error</a:t>
            </a:r>
            <a:endParaRPr b="0" i="0" sz="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       + Ki*integral</a:t>
            </a:r>
            <a:endParaRPr b="0" i="0" sz="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       + Kd*deriv;</a:t>
            </a:r>
            <a:endParaRPr b="0" i="0" sz="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00" u="none" cap="none" strike="noStrike"/>
          </a:p>
        </p:txBody>
      </p:sp>
      <p:sp>
        <p:nvSpPr>
          <p:cNvPr id="153" name="Google Shape;153;p19"/>
          <p:cNvSpPr/>
          <p:nvPr/>
        </p:nvSpPr>
        <p:spPr>
          <a:xfrm>
            <a:off x="4702671" y="1023789"/>
            <a:ext cx="1855217" cy="231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450"/>
              <a:buFont typeface="Baskervville"/>
              <a:buNone/>
            </a:pPr>
            <a:r>
              <a:rPr b="0" i="0" lang="en-US" sz="1450" u="none" cap="none" strike="noStrike">
                <a:solidFill>
                  <a:srgbClr val="787878"/>
                </a:solidFill>
                <a:latin typeface="Baskervville"/>
                <a:ea typeface="Baskervville"/>
                <a:cs typeface="Baskervville"/>
                <a:sym typeface="Baskervville"/>
              </a:rPr>
              <a:t>moveForward()</a:t>
            </a:r>
            <a:endParaRPr b="0" i="0" sz="1450" u="none" cap="none" strike="noStrike"/>
          </a:p>
        </p:txBody>
      </p:sp>
      <p:sp>
        <p:nvSpPr>
          <p:cNvPr id="154" name="Google Shape;154;p19"/>
          <p:cNvSpPr/>
          <p:nvPr/>
        </p:nvSpPr>
        <p:spPr>
          <a:xfrm>
            <a:off x="4702671" y="1359098"/>
            <a:ext cx="4084737" cy="1455986"/>
          </a:xfrm>
          <a:prstGeom prst="roundRect">
            <a:avLst>
              <a:gd fmla="val 1063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4697537" y="1359098"/>
            <a:ext cx="4095006" cy="1455986"/>
          </a:xfrm>
          <a:prstGeom prst="roundRect">
            <a:avLst>
              <a:gd fmla="val 106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4826571" y="1462311"/>
            <a:ext cx="3836938" cy="1249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void moveForward(float correction) {</a:t>
            </a:r>
            <a:endParaRPr b="0" i="0" sz="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  int leftSpeed  = BASE + correction;</a:t>
            </a:r>
            <a:endParaRPr b="0" i="0" sz="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  int rightSpeed = BASE - correction;</a:t>
            </a:r>
            <a:endParaRPr b="0" i="0" sz="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  leftSpeed  = constrain(leftSpeed,  0, 255);</a:t>
            </a:r>
            <a:endParaRPr b="0" i="0" sz="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  rightSpeed = constrain(rightSpeed, 0, 255);</a:t>
            </a:r>
            <a:endParaRPr b="0" i="0" sz="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  analogWrite(LEFT_PWM,  leftSpeed);</a:t>
            </a:r>
            <a:endParaRPr b="0" i="0" sz="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  analogWrite(RIGHT_PWM, rightSpeed);</a:t>
            </a:r>
            <a:endParaRPr b="0" i="0" sz="8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E666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/>
          <p:nvPr/>
        </p:nvSpPr>
        <p:spPr>
          <a:xfrm>
            <a:off x="978619" y="258961"/>
            <a:ext cx="2604269" cy="299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850"/>
              <a:buFont typeface="Baskervville"/>
              <a:buNone/>
            </a:pPr>
            <a:r>
              <a:rPr b="0" i="0" lang="en-US" sz="1850" u="none" cap="none" strike="noStrike">
                <a:solidFill>
                  <a:srgbClr val="787878"/>
                </a:solidFill>
                <a:latin typeface="Baskervville"/>
                <a:ea typeface="Baskervville"/>
                <a:cs typeface="Baskervville"/>
                <a:sym typeface="Baskervville"/>
              </a:rPr>
              <a:t>Project Timeline (Gantt)</a:t>
            </a:r>
            <a:endParaRPr b="0" i="0" sz="1850" u="none" cap="none" strike="noStrike"/>
          </a:p>
        </p:txBody>
      </p:sp>
      <p:pic>
        <p:nvPicPr>
          <p:cNvPr descr="preencoded.png" id="163" name="Google Shape;16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619" y="678061"/>
            <a:ext cx="7186761" cy="270986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/>
          <p:nvPr/>
        </p:nvSpPr>
        <p:spPr>
          <a:xfrm>
            <a:off x="978619" y="4769941"/>
            <a:ext cx="7186761" cy="114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6E6666"/>
              </a:buClr>
              <a:buSzPts val="650"/>
              <a:buFont typeface="Poppins"/>
              <a:buNone/>
            </a:pPr>
            <a:r>
              <a:rPr b="0" i="0" lang="en-US" sz="650" u="none" cap="none" strike="noStrike">
                <a:solidFill>
                  <a:srgbClr val="6E6666"/>
                </a:solidFill>
                <a:latin typeface="Poppins"/>
                <a:ea typeface="Poppins"/>
                <a:cs typeface="Poppins"/>
                <a:sym typeface="Poppins"/>
              </a:rPr>
              <a:t>Parallel workstreams: assembly and wiring done first, then iterative calibration and PID tuning before competition validation.</a:t>
            </a:r>
            <a:endParaRPr b="0" i="0" sz="6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0" name="Google Shape;1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/>
          <p:nvPr/>
        </p:nvSpPr>
        <p:spPr>
          <a:xfrm>
            <a:off x="3834705" y="1121643"/>
            <a:ext cx="4903589" cy="1041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53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3250"/>
              <a:buFont typeface="Baskervville"/>
              <a:buNone/>
            </a:pPr>
            <a:r>
              <a:rPr b="0" i="0" lang="en-US" sz="3250" u="none" cap="none" strike="noStrike">
                <a:solidFill>
                  <a:srgbClr val="787878"/>
                </a:solidFill>
                <a:latin typeface="Baskervville"/>
                <a:ea typeface="Baskervville"/>
                <a:cs typeface="Baskervville"/>
                <a:sym typeface="Baskervville"/>
              </a:rPr>
              <a:t>Conclusion &amp; Future Scopes</a:t>
            </a:r>
            <a:endParaRPr b="0" i="0" sz="3250" u="none" cap="none" strike="noStrike"/>
          </a:p>
        </p:txBody>
      </p:sp>
      <p:sp>
        <p:nvSpPr>
          <p:cNvPr id="172" name="Google Shape;172;p21"/>
          <p:cNvSpPr/>
          <p:nvPr/>
        </p:nvSpPr>
        <p:spPr>
          <a:xfrm>
            <a:off x="3834705" y="2209502"/>
            <a:ext cx="2083073" cy="2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600"/>
              <a:buFont typeface="Baskervville"/>
              <a:buNone/>
            </a:pPr>
            <a:r>
              <a:rPr b="0" i="0" lang="en-US" sz="1600" u="none" cap="none" strike="noStrike">
                <a:solidFill>
                  <a:srgbClr val="787878"/>
                </a:solidFill>
                <a:latin typeface="Baskervville"/>
                <a:ea typeface="Baskervville"/>
                <a:cs typeface="Baskervville"/>
                <a:sym typeface="Baskervville"/>
              </a:rPr>
              <a:t>Conclusion</a:t>
            </a:r>
            <a:endParaRPr b="0" i="0" sz="1600" u="none" cap="none" strike="noStrike"/>
          </a:p>
        </p:txBody>
      </p:sp>
      <p:sp>
        <p:nvSpPr>
          <p:cNvPr id="173" name="Google Shape;173;p21"/>
          <p:cNvSpPr/>
          <p:nvPr/>
        </p:nvSpPr>
        <p:spPr>
          <a:xfrm>
            <a:off x="3834705" y="2643634"/>
            <a:ext cx="2393826" cy="1378148"/>
          </a:xfrm>
          <a:prstGeom prst="roundRect">
            <a:avLst>
              <a:gd fmla="val 12618" name="adj"/>
            </a:avLst>
          </a:prstGeom>
          <a:solidFill>
            <a:srgbClr val="ECD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1"/>
          <p:cNvSpPr/>
          <p:nvPr/>
        </p:nvSpPr>
        <p:spPr>
          <a:xfrm>
            <a:off x="3950568" y="2759497"/>
            <a:ext cx="2162101" cy="52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askervville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Baskervville"/>
                <a:ea typeface="Baskervville"/>
                <a:cs typeface="Baskervville"/>
                <a:sym typeface="Baskervville"/>
              </a:rPr>
              <a:t>Functional Line Tracking</a:t>
            </a:r>
            <a:endParaRPr b="0" i="0" sz="1600" u="none" cap="none" strike="noStrike"/>
          </a:p>
        </p:txBody>
      </p:sp>
      <p:sp>
        <p:nvSpPr>
          <p:cNvPr id="175" name="Google Shape;175;p21"/>
          <p:cNvSpPr/>
          <p:nvPr/>
        </p:nvSpPr>
        <p:spPr>
          <a:xfrm>
            <a:off x="3950568" y="3349600"/>
            <a:ext cx="2162101" cy="55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Achieved functional line tracking with room for improvement in accuracy and stability</a:t>
            </a:r>
            <a:endParaRPr b="0" i="0" sz="900" u="none" cap="none" strike="noStrike"/>
          </a:p>
        </p:txBody>
      </p:sp>
      <p:sp>
        <p:nvSpPr>
          <p:cNvPr id="176" name="Google Shape;176;p21"/>
          <p:cNvSpPr/>
          <p:nvPr/>
        </p:nvSpPr>
        <p:spPr>
          <a:xfrm>
            <a:off x="6344394" y="2643634"/>
            <a:ext cx="2393900" cy="1378148"/>
          </a:xfrm>
          <a:prstGeom prst="roundRect">
            <a:avLst>
              <a:gd fmla="val 12618" name="adj"/>
            </a:avLst>
          </a:prstGeom>
          <a:solidFill>
            <a:srgbClr val="ECD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1"/>
          <p:cNvSpPr/>
          <p:nvPr/>
        </p:nvSpPr>
        <p:spPr>
          <a:xfrm>
            <a:off x="6460257" y="2759497"/>
            <a:ext cx="2083073" cy="2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Baskervville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Baskervville"/>
                <a:ea typeface="Baskervville"/>
                <a:cs typeface="Baskervville"/>
                <a:sym typeface="Baskervville"/>
              </a:rPr>
              <a:t>Coding Impact</a:t>
            </a:r>
            <a:endParaRPr b="0" i="0" sz="1600" u="none" cap="none" strike="noStrike"/>
          </a:p>
        </p:txBody>
      </p:sp>
      <p:sp>
        <p:nvSpPr>
          <p:cNvPr id="178" name="Google Shape;178;p21"/>
          <p:cNvSpPr/>
          <p:nvPr/>
        </p:nvSpPr>
        <p:spPr>
          <a:xfrm>
            <a:off x="6460257" y="3089300"/>
            <a:ext cx="2162175" cy="37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oppins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Software contribution was the core differentiator in robot performance</a:t>
            </a:r>
            <a:endParaRPr b="0" i="0" sz="9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4" name="Google Shape;1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/>
          <p:nvPr/>
        </p:nvSpPr>
        <p:spPr>
          <a:xfrm>
            <a:off x="3822055" y="327422"/>
            <a:ext cx="4928890" cy="1009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96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3150"/>
              <a:buFont typeface="Baskervville"/>
              <a:buNone/>
            </a:pPr>
            <a:r>
              <a:rPr b="0" i="0" lang="en-US" sz="3150" u="none" cap="none" strike="noStrike">
                <a:solidFill>
                  <a:srgbClr val="787878"/>
                </a:solidFill>
                <a:latin typeface="Baskervville"/>
                <a:ea typeface="Baskervville"/>
                <a:cs typeface="Baskervville"/>
                <a:sym typeface="Baskervville"/>
              </a:rPr>
              <a:t>Conclusion &amp; Future Scopes(Cont…)</a:t>
            </a:r>
            <a:endParaRPr b="0" i="0" sz="3150" u="none" cap="none" strike="noStrike"/>
          </a:p>
        </p:txBody>
      </p:sp>
      <p:sp>
        <p:nvSpPr>
          <p:cNvPr id="186" name="Google Shape;186;p22"/>
          <p:cNvSpPr/>
          <p:nvPr/>
        </p:nvSpPr>
        <p:spPr>
          <a:xfrm>
            <a:off x="3822055" y="1379934"/>
            <a:ext cx="2017961" cy="252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1550"/>
              <a:buFont typeface="Baskervville"/>
              <a:buNone/>
            </a:pPr>
            <a:r>
              <a:rPr b="0" i="0" lang="en-US" sz="1550" u="none" cap="none" strike="noStrike">
                <a:solidFill>
                  <a:srgbClr val="787878"/>
                </a:solidFill>
                <a:latin typeface="Baskervville"/>
                <a:ea typeface="Baskervville"/>
                <a:cs typeface="Baskervville"/>
                <a:sym typeface="Baskervville"/>
              </a:rPr>
              <a:t>Future Scopes</a:t>
            </a:r>
            <a:endParaRPr b="0" i="0" sz="1550" u="none" cap="none" strike="noStrike"/>
          </a:p>
        </p:txBody>
      </p:sp>
      <p:sp>
        <p:nvSpPr>
          <p:cNvPr id="187" name="Google Shape;187;p22"/>
          <p:cNvSpPr/>
          <p:nvPr/>
        </p:nvSpPr>
        <p:spPr>
          <a:xfrm>
            <a:off x="3822055" y="1795388"/>
            <a:ext cx="2410048" cy="1072530"/>
          </a:xfrm>
          <a:prstGeom prst="roundRect">
            <a:avLst>
              <a:gd fmla="val 15707" name="adj"/>
            </a:avLst>
          </a:prstGeom>
          <a:solidFill>
            <a:srgbClr val="ECD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2"/>
          <p:cNvSpPr/>
          <p:nvPr/>
        </p:nvSpPr>
        <p:spPr>
          <a:xfrm>
            <a:off x="3934346" y="1907679"/>
            <a:ext cx="2139851" cy="252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Baskervville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Baskervville"/>
                <a:ea typeface="Baskervville"/>
                <a:cs typeface="Baskervville"/>
                <a:sym typeface="Baskervville"/>
              </a:rPr>
              <a:t>8-Sensor Array Upgrade</a:t>
            </a:r>
            <a:endParaRPr b="0" i="0" sz="1550" u="none" cap="none" strike="noStrike"/>
          </a:p>
        </p:txBody>
      </p:sp>
      <p:sp>
        <p:nvSpPr>
          <p:cNvPr id="189" name="Google Shape;189;p22"/>
          <p:cNvSpPr/>
          <p:nvPr/>
        </p:nvSpPr>
        <p:spPr>
          <a:xfrm>
            <a:off x="3934346" y="2225204"/>
            <a:ext cx="2185467" cy="530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Poppins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Migrate to Pololu 8-sensor array for better line detection coverage and edge cases</a:t>
            </a:r>
            <a:endParaRPr b="0" i="0" sz="850" u="none" cap="none" strike="noStrike"/>
          </a:p>
        </p:txBody>
      </p:sp>
      <p:sp>
        <p:nvSpPr>
          <p:cNvPr id="190" name="Google Shape;190;p22"/>
          <p:cNvSpPr/>
          <p:nvPr/>
        </p:nvSpPr>
        <p:spPr>
          <a:xfrm>
            <a:off x="6340897" y="1795388"/>
            <a:ext cx="2410048" cy="1072530"/>
          </a:xfrm>
          <a:prstGeom prst="roundRect">
            <a:avLst>
              <a:gd fmla="val 15707" name="adj"/>
            </a:avLst>
          </a:prstGeom>
          <a:solidFill>
            <a:srgbClr val="ECD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6453188" y="1907679"/>
            <a:ext cx="2017961" cy="252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Baskervville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Baskervville"/>
                <a:ea typeface="Baskervville"/>
                <a:cs typeface="Baskervville"/>
                <a:sym typeface="Baskervville"/>
              </a:rPr>
              <a:t>Code Stability</a:t>
            </a:r>
            <a:endParaRPr b="0" i="0" sz="1550" u="none" cap="none" strike="noStrike"/>
          </a:p>
        </p:txBody>
      </p:sp>
      <p:sp>
        <p:nvSpPr>
          <p:cNvPr id="192" name="Google Shape;192;p22"/>
          <p:cNvSpPr/>
          <p:nvPr/>
        </p:nvSpPr>
        <p:spPr>
          <a:xfrm>
            <a:off x="6453188" y="2225204"/>
            <a:ext cx="2185467" cy="530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Poppins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Refine PID tuning and control logic for more stable performance across varying conditions</a:t>
            </a:r>
            <a:endParaRPr b="0" i="0" sz="850" u="none" cap="none" strike="noStrike"/>
          </a:p>
        </p:txBody>
      </p:sp>
      <p:sp>
        <p:nvSpPr>
          <p:cNvPr id="193" name="Google Shape;193;p22"/>
          <p:cNvSpPr/>
          <p:nvPr/>
        </p:nvSpPr>
        <p:spPr>
          <a:xfrm>
            <a:off x="3822055" y="2976711"/>
            <a:ext cx="2410048" cy="1249338"/>
          </a:xfrm>
          <a:prstGeom prst="roundRect">
            <a:avLst>
              <a:gd fmla="val 13484" name="adj"/>
            </a:avLst>
          </a:prstGeom>
          <a:solidFill>
            <a:srgbClr val="ECD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3934346" y="3089002"/>
            <a:ext cx="2017961" cy="252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Baskervville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Baskervville"/>
                <a:ea typeface="Baskervville"/>
                <a:cs typeface="Baskervville"/>
                <a:sym typeface="Baskervville"/>
              </a:rPr>
              <a:t>Increase Motor Speed</a:t>
            </a:r>
            <a:endParaRPr b="0" i="0" sz="1550" u="none" cap="none" strike="noStrike"/>
          </a:p>
        </p:txBody>
      </p:sp>
      <p:sp>
        <p:nvSpPr>
          <p:cNvPr id="195" name="Google Shape;195;p22"/>
          <p:cNvSpPr/>
          <p:nvPr/>
        </p:nvSpPr>
        <p:spPr>
          <a:xfrm>
            <a:off x="3934346" y="3406527"/>
            <a:ext cx="2185467" cy="530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Poppins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Test robot performance at higher velocities to improve speed while maintaining accuracy</a:t>
            </a:r>
            <a:endParaRPr b="0" i="0" sz="850" u="none" cap="none" strike="noStrike"/>
          </a:p>
        </p:txBody>
      </p:sp>
      <p:sp>
        <p:nvSpPr>
          <p:cNvPr id="196" name="Google Shape;196;p22"/>
          <p:cNvSpPr/>
          <p:nvPr/>
        </p:nvSpPr>
        <p:spPr>
          <a:xfrm>
            <a:off x="6340897" y="2976711"/>
            <a:ext cx="2410048" cy="1249338"/>
          </a:xfrm>
          <a:prstGeom prst="roundRect">
            <a:avLst>
              <a:gd fmla="val 13484" name="adj"/>
            </a:avLst>
          </a:prstGeom>
          <a:solidFill>
            <a:srgbClr val="ECD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2"/>
          <p:cNvSpPr/>
          <p:nvPr/>
        </p:nvSpPr>
        <p:spPr>
          <a:xfrm>
            <a:off x="6453188" y="3089002"/>
            <a:ext cx="2017961" cy="252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Baskervville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Baskervville"/>
                <a:ea typeface="Baskervville"/>
                <a:cs typeface="Baskervville"/>
                <a:sym typeface="Baskervville"/>
              </a:rPr>
              <a:t>Low-Light Filtering</a:t>
            </a:r>
            <a:endParaRPr b="0" i="0" sz="1550" u="none" cap="none" strike="noStrike"/>
          </a:p>
        </p:txBody>
      </p:sp>
      <p:sp>
        <p:nvSpPr>
          <p:cNvPr id="198" name="Google Shape;198;p22"/>
          <p:cNvSpPr/>
          <p:nvPr/>
        </p:nvSpPr>
        <p:spPr>
          <a:xfrm>
            <a:off x="6453188" y="3406527"/>
            <a:ext cx="2185467" cy="707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Poppins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Enhance sensor robustness and filtering algorithms for reliable operation in varying lighting conditions</a:t>
            </a:r>
            <a:endParaRPr b="0" i="0" sz="850" u="none" cap="none" strike="noStrike"/>
          </a:p>
        </p:txBody>
      </p:sp>
      <p:sp>
        <p:nvSpPr>
          <p:cNvPr id="199" name="Google Shape;199;p22"/>
          <p:cNvSpPr/>
          <p:nvPr/>
        </p:nvSpPr>
        <p:spPr>
          <a:xfrm>
            <a:off x="3822055" y="4348386"/>
            <a:ext cx="4928890" cy="467618"/>
          </a:xfrm>
          <a:prstGeom prst="roundRect">
            <a:avLst>
              <a:gd fmla="val 36025" name="adj"/>
            </a:avLst>
          </a:prstGeom>
          <a:solidFill>
            <a:srgbClr val="E2CF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0" name="Google Shape;20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4346" y="4519017"/>
            <a:ext cx="140345" cy="11229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/>
          <p:nvPr/>
        </p:nvSpPr>
        <p:spPr>
          <a:xfrm>
            <a:off x="4186982" y="4485233"/>
            <a:ext cx="4451672" cy="176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Poppins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85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5"/>
              </a:rPr>
              <a:t>Robot Demo Video</a:t>
            </a:r>
            <a:r>
              <a:rPr b="0" i="0" lang="en-US" sz="8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85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Here</a:t>
            </a:r>
            <a:endParaRPr b="0" i="0" sz="8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7" name="Google Shape;2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/>
          <p:nvPr/>
        </p:nvSpPr>
        <p:spPr>
          <a:xfrm>
            <a:off x="405705" y="2311375"/>
            <a:ext cx="4166220" cy="5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53"/>
              </a:lnSpc>
              <a:spcBef>
                <a:spcPts val="0"/>
              </a:spcBef>
              <a:spcAft>
                <a:spcPts val="0"/>
              </a:spcAft>
              <a:buSzPts val="3250"/>
              <a:buFont typeface="Arial"/>
              <a:buNone/>
            </a:pPr>
            <a:r>
              <a:t/>
            </a:r>
            <a:endParaRPr b="0" i="0" sz="325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/>
          <p:nvPr/>
        </p:nvSpPr>
        <p:spPr>
          <a:xfrm>
            <a:off x="405780" y="1576164"/>
            <a:ext cx="8332440" cy="1041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19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6550"/>
              <a:buFont typeface="Baskervville"/>
              <a:buNone/>
            </a:pPr>
            <a:r>
              <a:rPr b="0" i="0" lang="en-US" sz="6550" u="none" cap="none" strike="noStrike">
                <a:solidFill>
                  <a:srgbClr val="787878"/>
                </a:solidFill>
                <a:latin typeface="Baskervville"/>
                <a:ea typeface="Baskervville"/>
                <a:cs typeface="Baskervville"/>
                <a:sym typeface="Baskervville"/>
              </a:rPr>
              <a:t>Thank You</a:t>
            </a:r>
            <a:endParaRPr b="0" i="0" sz="6550" u="none" cap="none" strike="noStrike"/>
          </a:p>
        </p:txBody>
      </p:sp>
      <p:sp>
        <p:nvSpPr>
          <p:cNvPr id="215" name="Google Shape;215;p24"/>
          <p:cNvSpPr/>
          <p:nvPr/>
        </p:nvSpPr>
        <p:spPr>
          <a:xfrm>
            <a:off x="2905497" y="2791495"/>
            <a:ext cx="3332931" cy="416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87878"/>
              </a:buClr>
              <a:buSzPts val="2600"/>
              <a:buFont typeface="Baskervville"/>
              <a:buNone/>
            </a:pPr>
            <a:r>
              <a:rPr b="0" i="0" lang="en-US" sz="2600" u="none" cap="none" strike="noStrike">
                <a:solidFill>
                  <a:srgbClr val="787878"/>
                </a:solidFill>
                <a:latin typeface="Baskervville"/>
                <a:ea typeface="Baskervville"/>
                <a:cs typeface="Baskervville"/>
                <a:sym typeface="Baskervville"/>
              </a:rPr>
              <a:t>Questions?</a:t>
            </a:r>
            <a:endParaRPr b="0" i="0" sz="2600" u="none" cap="none" strike="noStrike"/>
          </a:p>
        </p:txBody>
      </p:sp>
      <p:sp>
        <p:nvSpPr>
          <p:cNvPr id="216" name="Google Shape;216;p24"/>
          <p:cNvSpPr/>
          <p:nvPr/>
        </p:nvSpPr>
        <p:spPr>
          <a:xfrm>
            <a:off x="405705" y="3381896"/>
            <a:ext cx="8332589" cy="18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None/>
            </a:pPr>
            <a:r>
              <a:t/>
            </a:r>
            <a:endParaRPr b="0" i="0" sz="9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